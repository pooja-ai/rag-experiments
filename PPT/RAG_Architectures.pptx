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23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5303520"/>
            <a:ext cx="132588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5440680"/>
            <a:ext cx="132588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11247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RAG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 ·  GraphRAG  ·  Agentic RAG  ·  Corrective RAG  ·  Multimodal RAG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6524" y="4133088"/>
            <a:ext cx="1508760" cy="621792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252" y="4224528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55164" y="4169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RAG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16452" y="4133088"/>
            <a:ext cx="1508760" cy="621792"/>
          </a:xfrm>
          <a:prstGeom prst="roundRect">
            <a:avLst>
              <a:gd name="adj" fmla="val 2352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422452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5092" y="4169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GraphRAG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326380" y="4133088"/>
            <a:ext cx="1508760" cy="621792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08" y="422452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75020" y="4169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RAG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036308" y="4133088"/>
            <a:ext cx="1508760" cy="621792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036" y="4224528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4948" y="4169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 RAG (CRAG)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746236" y="4133088"/>
            <a:ext cx="1508760" cy="621792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5964" y="4224528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94876" y="4169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RAG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84632" y="5029200"/>
            <a:ext cx="3566160" cy="914400"/>
          </a:xfrm>
          <a:prstGeom prst="rect">
            <a:avLst/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84632" y="5029200"/>
            <a:ext cx="35661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9224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20–35%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649224" y="5541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dense-only retrieval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297680" y="5029200"/>
            <a:ext cx="3566160" cy="914400"/>
          </a:xfrm>
          <a:prstGeom prst="rect">
            <a:avLst/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297680" y="5029200"/>
            <a:ext cx="356616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462272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400" dirty="0"/>
          </a:p>
        </p:txBody>
      </p:sp>
      <p:sp>
        <p:nvSpPr>
          <p:cNvPr id="32" name="Text 25"/>
          <p:cNvSpPr/>
          <p:nvPr/>
        </p:nvSpPr>
        <p:spPr>
          <a:xfrm>
            <a:off x="4462272" y="5541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improved multi-hop accuracy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10728" y="5029200"/>
            <a:ext cx="3566160" cy="914400"/>
          </a:xfrm>
          <a:prstGeom prst="rect">
            <a:avLst/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10728" y="5029200"/>
            <a:ext cx="35661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7532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25–40%</a:t>
            </a:r>
            <a:endParaRPr lang="en-US" sz="2400" dirty="0"/>
          </a:p>
        </p:txBody>
      </p:sp>
      <p:sp>
        <p:nvSpPr>
          <p:cNvPr id="36" name="Text 29"/>
          <p:cNvSpPr/>
          <p:nvPr/>
        </p:nvSpPr>
        <p:spPr>
          <a:xfrm>
            <a:off x="8275320" y="5541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self-correcting retrieval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RAG Patterns for 2026 and Beyond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152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Architecture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architecture for your retrieval challenge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1161288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1704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Innovation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1704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11704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06840" y="11704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11612880" cy="896112"/>
          </a:xfrm>
          <a:prstGeom prst="rect">
            <a:avLst/>
          </a:prstGeom>
          <a:solidFill>
            <a:srgbClr val="132435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9344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00784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Hybrid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9152" y="1700784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 meet sparse keywords — best of both worlds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65376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70078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54112" y="1700784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79992" y="1700784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contain both conceptual content and exact terms (product codes, medical IDs, legal clauses)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542032"/>
            <a:ext cx="11612880" cy="89611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42032"/>
            <a:ext cx="64008" cy="89611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63347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GraphRAG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59152" y="2633472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live in the relationships, not just the paragraphs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2798064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C2410C">
              <a:alpha val="20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263347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54112" y="2633472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79992" y="2633472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require multi-hop reasoning, relationship discovery, or cross-document synthesis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11612880" cy="896112"/>
          </a:xfrm>
          <a:prstGeom prst="rect">
            <a:avLst/>
          </a:prstGeom>
          <a:solidFill>
            <a:srgbClr val="132435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474720"/>
            <a:ext cx="64008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6616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Agentic RAG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59152" y="356616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becomes a plan, not a step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3730752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356616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54112" y="35661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79992" y="356616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complex, open-ended, or require combining multiple data sources and reasoning steps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4407408"/>
            <a:ext cx="11612880" cy="89611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407408"/>
            <a:ext cx="64008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49884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Corrective RAG (CRAG)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59152" y="4498848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retrieval before you trust it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663440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C2410C">
              <a:alpha val="20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49884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54112" y="4498848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079992" y="449884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is uncertain, knowledge base coverage is incomplete, or freshness matters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4320" y="5340096"/>
            <a:ext cx="11612880" cy="896112"/>
          </a:xfrm>
          <a:prstGeom prst="rect">
            <a:avLst/>
          </a:prstGeom>
          <a:solidFill>
            <a:srgbClr val="132435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5340096"/>
            <a:ext cx="64008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5431536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Multimodal RAG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359152" y="5431536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 across text, images, and tables — unified retrieval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17920" y="5596128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C2410C">
              <a:alpha val="20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5431536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754112" y="5431536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079992" y="5431536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rich with charts, diagrams, figures, scanned PDFs, or mixed-media content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132435"/>
          </a:solidFill>
          <a:ln w="12700">
            <a:solidFill>
              <a:srgbClr val="1324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82880"/>
            <a:ext cx="749808" cy="7498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1752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201168"/>
            <a:ext cx="530352" cy="530352"/>
          </a:xfrm>
          <a:prstGeom prst="ellipse">
            <a:avLst/>
          </a:prstGeom>
          <a:solidFill>
            <a:srgbClr val="0E1B2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201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7360" y="9144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RAG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37360" y="6766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 meet sparse keywords — best of both worlds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75720" y="219456"/>
            <a:ext cx="566928" cy="292608"/>
          </a:xfrm>
          <a:prstGeom prst="roundRect">
            <a:avLst>
              <a:gd name="adj" fmla="val 312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75720" y="2194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70432"/>
            <a:ext cx="1197864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70432"/>
            <a:ext cx="54864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243584"/>
            <a:ext cx="11722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combines neural dense retrieval (embeddings) with classical sparse retrieval (BM25/TF-IDF) and fuses their results via Reciprocal Rank Fusion (RRF) before passing Top-K chunks to the LLM.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8288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MECHANICS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" y="254203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" y="2542032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" y="261518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semantic understanding with exact keyword matching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9184" y="327355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9184" y="3273552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334670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merging prevents any single retriever from dominating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9184" y="400507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4005072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6112" y="407822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domains mixing structured terms (codes, names) with concepts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9184" y="473659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" y="4736592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489204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96112" y="480974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multi-language and domain-specific terminology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0936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solidFill>
            <a:srgbClr val="0A152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55664" y="2542032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2642616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31152" y="259689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formula: score(d) = Σ 1/(k + rank_i(d)) — typical k=60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55664" y="3145536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92240" y="3246120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922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931152" y="3200400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Alpha-weighting: tune dense vs sparse contribution per task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455664" y="3749040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92240" y="3849624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922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31152" y="380390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with: Elasticsearch + FAISS, Weaviate hybrid, Qdrant hybrid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455664" y="4352544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92240" y="4453128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922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931152" y="4407408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SPLADE/ColBERT bridge the dense-sparse gap with learned sparse models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6455664" y="4956048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92240" y="5056632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92240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31152" y="501091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hallucinations on factual queries by 20–35% vs dense-only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182880" y="5715000"/>
            <a:ext cx="7772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2880" y="5715000"/>
            <a:ext cx="54864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7472" y="5769864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 ·  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47472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contain both conceptual content and exact terms (product codes, medical IDs, legal clauses)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580644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0644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80644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731520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31520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731520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882396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82396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2396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132435"/>
          </a:solidFill>
          <a:ln w="12700">
            <a:solidFill>
              <a:srgbClr val="1324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82880"/>
            <a:ext cx="749808" cy="74980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1752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201168"/>
            <a:ext cx="530352" cy="530352"/>
          </a:xfrm>
          <a:prstGeom prst="ellipse">
            <a:avLst/>
          </a:prstGeom>
          <a:solidFill>
            <a:srgbClr val="0E1B27"/>
          </a:solidFill>
          <a:ln w="25400">
            <a:solidFill>
              <a:srgbClr val="C241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201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7360" y="9144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37360" y="6766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live in the relationships, not just the paragraphs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75720" y="219456"/>
            <a:ext cx="566928" cy="292608"/>
          </a:xfrm>
          <a:prstGeom prst="roundRect">
            <a:avLst>
              <a:gd name="adj" fmla="val 3125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75720" y="2194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70432"/>
            <a:ext cx="1197864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70432"/>
            <a:ext cx="54864" cy="7498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243584"/>
            <a:ext cx="11722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builds a Knowledge Graph from documents — extracting entities (people, places, concepts) and their relationships. Queries traverse subgraphs and community summaries rather than isolated text chunks.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8288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MECHANICS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" y="254203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" y="2542032"/>
            <a:ext cx="45720" cy="640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" y="261518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 captured: person, org, location, concept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9184" y="327355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9184" y="3273552"/>
            <a:ext cx="45720" cy="640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334670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 (Leiden algorithm) groups related entity clusters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9184" y="400507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4005072"/>
            <a:ext cx="45720" cy="640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6112" y="407822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multi-hop questions that single-chunk retrieval misses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9184" y="473659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" y="4736592"/>
            <a:ext cx="45720" cy="640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4892040"/>
            <a:ext cx="329184" cy="32918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96112" y="480974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and local search modes: community summaries vs entity traversal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0936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solidFill>
            <a:srgbClr val="0A1520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55664" y="2542032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2642616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31152" y="259689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GraphRAG (2024) uses LLM to extract entity-relation tuples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55664" y="3145536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92240" y="3246120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922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931152" y="3200400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entities, Edges = relationships with confidence scores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455664" y="3749040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92240" y="3849624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922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31152" y="380390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summaries act as hierarchical document maps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455664" y="4352544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92240" y="4453128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922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931152" y="4407408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context by 70% while improving complex query accuracy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6455664" y="4956048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92240" y="5056632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92240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31152" y="501091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for: research corpora, enterprise knowledge bases, legal document sets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182880" y="5715000"/>
            <a:ext cx="7772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2880" y="5715000"/>
            <a:ext cx="54864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7472" y="5769864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 ·  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47472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require multi-hop reasoning, relationship discovery, or cross-document synthesis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580644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0644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80644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731520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31520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731520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882396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82396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2396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Very High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132435"/>
          </a:solidFill>
          <a:ln w="12700">
            <a:solidFill>
              <a:srgbClr val="1324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82880"/>
            <a:ext cx="749808" cy="7498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1752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201168"/>
            <a:ext cx="530352" cy="530352"/>
          </a:xfrm>
          <a:prstGeom prst="ellipse">
            <a:avLst/>
          </a:prstGeom>
          <a:solidFill>
            <a:srgbClr val="0E1B27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201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7360" y="9144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RAG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37360" y="6766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becomes a plan, not a step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75720" y="219456"/>
            <a:ext cx="566928" cy="292608"/>
          </a:xfrm>
          <a:prstGeom prst="roundRect">
            <a:avLst>
              <a:gd name="adj" fmla="val 312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75720" y="2194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70432"/>
            <a:ext cx="1197864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70432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243584"/>
            <a:ext cx="11722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replaces fixed retrieval pipelines with a Planner Agent that autonomously decides which tools to use (vector search, web search, SQL), loops until confident, then passes results to a Reasoner Agent for synthesis.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8288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MECHANICS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" y="254203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" y="2542032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" y="261518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 dynamically selects tools based on query complexity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9184" y="327355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9184" y="3273552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334670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 iteratively — retries with different tools if confidence low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9184" y="400507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4005072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6112" y="407822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arsenal: vector search, web search, SQL, calculator, code execution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9184" y="473659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" y="4736592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489204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96112" y="480974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 Agent synthesizes multi-source evidence into coherent answer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0936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solidFill>
            <a:srgbClr val="0A152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55664" y="2542032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2642616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31152" y="259689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ReAct (Reason + Act) prompting framework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55664" y="3145536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92240" y="3246120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922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931152" y="3200400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AutoGen / CrewAI enable multi-agent orchestration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455664" y="3749040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92240" y="3849624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922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31152" y="380390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loops: agent critiques its own retrieval quality before answering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455664" y="4352544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92240" y="4453128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922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931152" y="4407408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routing reduces irrelevant context passed to LLM by 40–60%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6455664" y="4956048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92240" y="5056632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92240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31152" y="501091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long-horizon tasks: research reports, code debugging, data analysis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182880" y="5715000"/>
            <a:ext cx="7772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2880" y="5715000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7472" y="5769864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 ·  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47472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complex, open-ended, or require combining multiple data sources and reasoning steps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580644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0644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80644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731520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31520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731520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882396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82396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2396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Very High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132435"/>
          </a:solidFill>
          <a:ln w="12700">
            <a:solidFill>
              <a:srgbClr val="1324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82880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1752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201168"/>
            <a:ext cx="530352" cy="530352"/>
          </a:xfrm>
          <a:prstGeom prst="ellipse">
            <a:avLst/>
          </a:prstGeom>
          <a:solidFill>
            <a:srgbClr val="0E1B27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201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7360" y="9144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Corrective RAG (CRAG)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37360" y="6766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retrieval before you trust 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75720" y="219456"/>
            <a:ext cx="566928" cy="292608"/>
          </a:xfrm>
          <a:prstGeom prst="roundRect">
            <a:avLst>
              <a:gd name="adj" fmla="val 312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75720" y="2194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70432"/>
            <a:ext cx="1197864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70432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243584"/>
            <a:ext cx="11722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introduces a retrieval evaluator/grader that scores retrieved documents before generation. Correct docs go straight to LLM; ambiguous docs trigger Query Rewriting; incorrect docs trigger Web Search Fallback.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8288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MECHANICS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" y="254203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" y="2542032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" y="261518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grades retrieved docs: Correct / Ambiguous / Incorrect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9184" y="327355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9184" y="3273552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334670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result: Query Rewriter reformulates for better retrieval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9184" y="400507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4005072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6112" y="407822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result: Web Search Fallback ensures answer is grounded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9184" y="473659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" y="4736592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489204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96112" y="480974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loop dramatically reduces hallucination from bad retrieval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0936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solidFill>
            <a:srgbClr val="0A15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55664" y="2542032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2642616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31152" y="259689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is a lightweight LLM judge (cross-encoder or few-shot classifier)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55664" y="3145536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92240" y="3246120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922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931152" y="3200400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decomposition: complex queries broken into sub-queries for rewriting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455664" y="3749040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92240" y="3849624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922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31152" y="380390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 uses Tavily / SerpAPI / Bing for live grounding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455664" y="4352544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92240" y="4453128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922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931152" y="4407408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reduces hallucination by 25–40% vs standard RAG on factual QA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6455664" y="4956048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92240" y="5056632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92240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31152" y="501091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CRAG workflow: conditional edges based on grader output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182880" y="5715000"/>
            <a:ext cx="7772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2880" y="5715000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7472" y="5769864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 ·  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47472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is uncertain, knowledge base coverage is incomplete, or freshness matters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580644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0644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80644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731520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31520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731520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Medium-High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882396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82396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2396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Very High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132435"/>
          </a:solidFill>
          <a:ln w="12700">
            <a:solidFill>
              <a:srgbClr val="1324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82880"/>
            <a:ext cx="749808" cy="7498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1752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201168"/>
            <a:ext cx="530352" cy="530352"/>
          </a:xfrm>
          <a:prstGeom prst="ellipse">
            <a:avLst/>
          </a:prstGeom>
          <a:solidFill>
            <a:srgbClr val="0E1B27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201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7360" y="9144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RAG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37360" y="6766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 across text, images, and tables — unified retrieval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75720" y="219456"/>
            <a:ext cx="566928" cy="292608"/>
          </a:xfrm>
          <a:prstGeom prst="roundRect">
            <a:avLst>
              <a:gd name="adj" fmla="val 312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75720" y="2194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70432"/>
            <a:ext cx="1197864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70432"/>
            <a:ext cx="54864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243584"/>
            <a:ext cx="11722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 encodes text, images, charts, and tables through a shared multimodal embedding model (CLIP, ColPali) into a Unified Vector Index. Retrieval and generation handle all modalities together via a vision+text LLM.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8288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1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MECHANICS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" y="254203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" y="2542032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" y="261518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embedding space for text, images, charts, and structured tables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9184" y="327355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9184" y="3273552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334670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encodes image-text pairs; ColPali handles document page images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9184" y="400507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4005072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6112" y="407822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retrieval: text query can retrieve relevant image/chart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9184" y="4736592"/>
            <a:ext cx="5394960" cy="6400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" y="4736592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489204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96112" y="480974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(GPT-4V, LLaVA, Gemini) synthesizes mixed inputs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09360" y="2029968"/>
            <a:ext cx="5687568" cy="35204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solidFill>
            <a:srgbClr val="0A152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2029968"/>
            <a:ext cx="5687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55664" y="2542032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2642616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31152" y="259689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ColPali: index PDF pages as images — preserves layout, charts, tables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55664" y="3145536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92240" y="3246120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922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931152" y="3200400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 gives strong zero-shot image-text alignment for retrieval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455664" y="3749040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92240" y="3849624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922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31152" y="380390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MultiModal supports: text, image, audio in unified pipeline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455664" y="4352544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92240" y="4453128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922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931152" y="4407408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information loss from traditional PDF text extraction by 60%+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6455664" y="4956048"/>
            <a:ext cx="5394960" cy="5303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92240" y="5056632"/>
            <a:ext cx="329184" cy="329184"/>
          </a:xfrm>
          <a:prstGeom prst="ellipse">
            <a:avLst/>
          </a:prstGeom>
          <a:solidFill>
            <a:srgbClr val="0E1B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92240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31152" y="501091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QA: structured table understanding via Tapas or table-aware encoders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182880" y="5715000"/>
            <a:ext cx="7772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2880" y="5715000"/>
            <a:ext cx="54864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7472" y="5769864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 ·  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47472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rich with charts, diagrams, figures, scanned PDFs, or mixed-media content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580644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0644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80644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731520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31520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731520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Medium-High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8823960" y="5715000"/>
            <a:ext cx="1417320" cy="621792"/>
          </a:xfrm>
          <a:prstGeom prst="rect">
            <a:avLst/>
          </a:prstGeom>
          <a:solidFill>
            <a:srgbClr val="13243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82396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2396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152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flow for all 5 RAG architectures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280160"/>
            <a:ext cx="1828800" cy="658368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2801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RAG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48840" y="135331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3716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502152" y="142646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5304" y="135331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3716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+ BM25 Index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28616" y="142646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01768" y="135331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8344" y="13716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Results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55080" y="142646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28232" y="135331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3716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81544" y="142646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54696" y="135331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91272" y="13716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208008" y="142646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81160" y="135331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13716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34472" y="142646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07624" y="135331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44200" y="13716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240280"/>
            <a:ext cx="1828800" cy="658368"/>
          </a:xfrm>
          <a:prstGeom prst="rect">
            <a:avLst/>
          </a:prstGeom>
          <a:solidFill>
            <a:srgbClr val="C2410C">
              <a:alpha val="15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2402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GraphRAG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48840" y="231343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85416" y="2331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02152" y="238658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75304" y="231343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2331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28616" y="238658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01768" y="231343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2331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55080" y="238658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28232" y="231343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4808" y="2331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Retrieval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781544" y="238658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54696" y="231343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91272" y="2331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Summaries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208008" y="238658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81160" y="231343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17736" y="2331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634472" y="238658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707624" y="231343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44200" y="2331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2880" y="3200400"/>
            <a:ext cx="1828800" cy="6583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32004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RAG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148840" y="327355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85416" y="32918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502152" y="334670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575304" y="327355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32918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28616" y="334670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01768" y="327355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38344" y="32918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(Vector/Web…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55080" y="334670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28232" y="327355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64808" y="32918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 Agent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781544" y="334670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854696" y="327355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272" y="32918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82880" y="4160520"/>
            <a:ext cx="1828800" cy="65836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4160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 RAG (CRAG)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148840" y="423367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85416" y="4251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502152" y="430682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575304" y="423367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11880" y="4251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928616" y="430682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001768" y="423367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38344" y="4251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355080" y="430682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428232" y="423367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64808" y="4251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Evaluator/Grader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781544" y="430682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854696" y="423367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91272" y="4251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 LLM / Ambiguous …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9208008" y="430682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281160" y="423367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17736" y="4251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82880" y="5120640"/>
            <a:ext cx="1828800" cy="65836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82880" y="5120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RAG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148840" y="519379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185416" y="52120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Images / Tables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502152" y="526694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575304" y="519379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11880" y="52120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Multimodal Embeddin…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928616" y="526694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001768" y="519379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38344" y="52120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Vector Index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355080" y="526694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428232" y="519379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64808" y="52120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781544" y="526694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854696" y="519379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13243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91272" y="52120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(vision+text)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208008" y="5266944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281160" y="5193792"/>
            <a:ext cx="1353312" cy="530352"/>
          </a:xfrm>
          <a:prstGeom prst="roundRect">
            <a:avLst>
              <a:gd name="adj" fmla="val 103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317736" y="52120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82880" y="5989320"/>
            <a:ext cx="11795760" cy="502920"/>
          </a:xfrm>
          <a:prstGeom prst="rect">
            <a:avLst/>
          </a:prstGeom>
          <a:solidFill>
            <a:srgbClr val="132435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65760" y="603504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pipelines start with a Query and end with an Answer — the architecture determines how data flows and is evaluated between them.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1288</Words>
  <Application>Microsoft Office PowerPoint</Application>
  <PresentationFormat>Widescreen</PresentationFormat>
  <Paragraphs>290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5 RAG Architectures You Must Know in 2026</dc:title>
  <dc:subject>PptxGenJS Presentation</dc:subject>
  <dc:creator>PptxGenJS</dc:creator>
  <cp:lastModifiedBy>Sanvi</cp:lastModifiedBy>
  <cp:revision>3</cp:revision>
  <dcterms:created xsi:type="dcterms:W3CDTF">2026-05-20T06:46:03Z</dcterms:created>
  <dcterms:modified xsi:type="dcterms:W3CDTF">2026-05-20T08:07:20Z</dcterms:modified>
</cp:coreProperties>
</file>